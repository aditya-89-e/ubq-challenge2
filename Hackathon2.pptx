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1899f2b059080047_18_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h1899f2b059080047_18_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h1899f2b059080047_18_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1899f2b059080047_18_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h1899f2b059080047_18_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1899f2b059080047_18_5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h1899f2b059080047_18_5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h1899f2b059080047_18_5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1899f2b059080047_18_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h1899f2b059080047_18_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1899f2b059080047_18_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1899f2b059080047_18_12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h1899f2b059080047_18_12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1899f2b059080047_18_12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1899f2b059080047_18_1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h1899f2b059080047_18_1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h1899f2b059080047_18_18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1899f2b059080047_18_2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h1899f2b059080047_18_2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h1899f2b059080047_18_2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1899f2b059080047_18_2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h1899f2b059080047_18_2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1899f2b059080047_18_25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1899f2b059080047_18_3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h1899f2b059080047_18_3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h1899f2b059080047_18_3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1899f2b059080047_18_3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h1899f2b059080047_18_3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1899f2b059080047_18_40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1899f2b059080047_18_40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1899f2b059080047_18_4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h1899f2b059080047_18_4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h1899f2b059080047_18_4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1899f2b059080047_18_47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h1899f2b059080047_18_47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0" y="0"/>
            <a:ext cx="9143771" cy="82296"/>
          </a:xfrm>
          <a:prstGeom prst="rect">
            <a:avLst/>
          </a:prstGeom>
          <a:solidFill>
            <a:srgbClr val="173B57"/>
          </a:solidFill>
          <a:ln cap="flat" cmpd="sng" w="12700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4"/>
          <p:cNvSpPr/>
          <p:nvPr/>
        </p:nvSpPr>
        <p:spPr>
          <a:xfrm>
            <a:off x="377190" y="4855464"/>
            <a:ext cx="46634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CS60055 Ubiquitous Computing • Hackathon Challenge 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4869180" y="4855464"/>
            <a:ext cx="39090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Source: Schäfer et al., Applied Sciences 2021 • Challenge 2 brief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drive/folders/1iVJiEl_iaqGXXJgZZ5InoLjqJdt1Sonq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B5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173B57"/>
          </a:solidFill>
          <a:ln cap="flat" cmpd="sng" w="12700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5863590" y="171450"/>
            <a:ext cx="2400300" cy="459486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2F80ED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041898" y="253746"/>
            <a:ext cx="2249424" cy="447141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1FA8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6220206" y="336042"/>
            <a:ext cx="2098548" cy="434797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2F80ED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6398514" y="418338"/>
            <a:ext cx="1947672" cy="422452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1FA8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6576822" y="500634"/>
            <a:ext cx="1796796" cy="4101084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2F80ED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80060" y="411480"/>
            <a:ext cx="45262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CB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9CCBFF"/>
                </a:solidFill>
                <a:latin typeface="Arial"/>
                <a:ea typeface="Arial"/>
                <a:cs typeface="Arial"/>
                <a:sym typeface="Arial"/>
              </a:rPr>
              <a:t>CS60055 Ubiquitous Computing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80060" y="850392"/>
            <a:ext cx="507492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 Challenge 2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80060" y="13716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Cross-Room Few-Shot Adaptation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WiFi activity recognition with very few labels</a:t>
            </a:r>
            <a:endParaRPr sz="1100"/>
          </a:p>
        </p:txBody>
      </p:sp>
      <p:sp>
        <p:nvSpPr>
          <p:cNvPr id="72" name="Google Shape;72;p16"/>
          <p:cNvSpPr/>
          <p:nvPr/>
        </p:nvSpPr>
        <p:spPr>
          <a:xfrm>
            <a:off x="493776" y="2434590"/>
            <a:ext cx="2400300" cy="233172"/>
          </a:xfrm>
          <a:prstGeom prst="roundRect">
            <a:avLst>
              <a:gd fmla="val 35294" name="adj"/>
            </a:avLst>
          </a:prstGeom>
          <a:solidFill>
            <a:srgbClr val="173B57"/>
          </a:solidFill>
          <a:ln cap="flat" cmpd="sng" w="12700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01 • THE PROBLEM</a:t>
            </a:r>
            <a:endParaRPr sz="1100"/>
          </a:p>
        </p:txBody>
      </p:sp>
      <p:sp>
        <p:nvSpPr>
          <p:cNvPr id="79" name="Google Shape;79;p17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The problem in one minute</a:t>
            </a:r>
            <a:endParaRPr sz="1100"/>
          </a:p>
        </p:txBody>
      </p:sp>
      <p:sp>
        <p:nvSpPr>
          <p:cNvPr id="80" name="Google Shape;80;p17"/>
          <p:cNvSpPr/>
          <p:nvPr/>
        </p:nvSpPr>
        <p:spPr>
          <a:xfrm>
            <a:off x="493776" y="1165860"/>
            <a:ext cx="4834890" cy="3188970"/>
          </a:xfrm>
          <a:prstGeom prst="roundRect">
            <a:avLst>
              <a:gd fmla="val 3011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651510" y="1323594"/>
            <a:ext cx="1131570" cy="233172"/>
          </a:xfrm>
          <a:prstGeom prst="roundRect">
            <a:avLst>
              <a:gd fmla="val 35294" name="adj"/>
            </a:avLst>
          </a:prstGeom>
          <a:solidFill>
            <a:srgbClr val="E4F0FC"/>
          </a:solidFill>
          <a:ln cap="flat" cmpd="sng" w="12700">
            <a:solidFill>
              <a:srgbClr val="E4F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706374" y="1368171"/>
            <a:ext cx="102184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100"/>
          </a:p>
        </p:txBody>
      </p:sp>
      <p:sp>
        <p:nvSpPr>
          <p:cNvPr id="83" name="Google Shape;83;p17"/>
          <p:cNvSpPr/>
          <p:nvPr/>
        </p:nvSpPr>
        <p:spPr>
          <a:xfrm>
            <a:off x="672084" y="1789938"/>
            <a:ext cx="82296" cy="82296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843534" y="1748790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 WiFi activity model trained in one room often fails in the next.</a:t>
            </a:r>
            <a:endParaRPr sz="1100"/>
          </a:p>
        </p:txBody>
      </p:sp>
      <p:sp>
        <p:nvSpPr>
          <p:cNvPr id="85" name="Google Shape;85;p17"/>
          <p:cNvSpPr/>
          <p:nvPr/>
        </p:nvSpPr>
        <p:spPr>
          <a:xfrm>
            <a:off x="672084" y="2132838"/>
            <a:ext cx="82296" cy="82296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843534" y="2091690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</a:rPr>
              <a:t>Walls and furniture shape the WiFi signal, not just the person in the room.</a:t>
            </a:r>
            <a:endParaRPr sz="1100"/>
          </a:p>
        </p:txBody>
      </p:sp>
      <p:sp>
        <p:nvSpPr>
          <p:cNvPr id="87" name="Google Shape;87;p17"/>
          <p:cNvSpPr/>
          <p:nvPr/>
        </p:nvSpPr>
        <p:spPr>
          <a:xfrm>
            <a:off x="672084" y="2475738"/>
            <a:ext cx="82296" cy="82296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843534" y="2434590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 new home gets a short setup visit: a few labels, never all of them.</a:t>
            </a:r>
            <a:endParaRPr sz="1100"/>
          </a:p>
        </p:txBody>
      </p:sp>
      <p:sp>
        <p:nvSpPr>
          <p:cNvPr id="89" name="Google Shape;89;p17"/>
          <p:cNvSpPr/>
          <p:nvPr/>
        </p:nvSpPr>
        <p:spPr>
          <a:xfrm>
            <a:off x="672084" y="2990087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843534" y="2948940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Your system must tell which room a CSI window came from,</a:t>
            </a:r>
            <a:endParaRPr sz="1100"/>
          </a:p>
        </p:txBody>
      </p:sp>
      <p:sp>
        <p:nvSpPr>
          <p:cNvPr id="91" name="Google Shape;91;p17"/>
          <p:cNvSpPr/>
          <p:nvPr/>
        </p:nvSpPr>
        <p:spPr>
          <a:xfrm>
            <a:off x="672084" y="3332987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843534" y="3291840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learn from CSI without using activity labels,</a:t>
            </a:r>
            <a:endParaRPr sz="1100"/>
          </a:p>
        </p:txBody>
      </p:sp>
      <p:sp>
        <p:nvSpPr>
          <p:cNvPr id="93" name="Google Shape;93;p17"/>
          <p:cNvSpPr/>
          <p:nvPr/>
        </p:nvSpPr>
        <p:spPr>
          <a:xfrm>
            <a:off x="672084" y="3675887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843534" y="3634740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and recognize activities nobody labeled in that room.</a:t>
            </a:r>
            <a:endParaRPr sz="1100"/>
          </a:p>
        </p:txBody>
      </p:sp>
      <p:sp>
        <p:nvSpPr>
          <p:cNvPr id="95" name="Google Shape;95;p17"/>
          <p:cNvSpPr/>
          <p:nvPr/>
        </p:nvSpPr>
        <p:spPr>
          <a:xfrm>
            <a:off x="5541264" y="1165860"/>
            <a:ext cx="3051810" cy="3188970"/>
          </a:xfrm>
          <a:prstGeom prst="roundRect">
            <a:avLst>
              <a:gd fmla="val 3146" name="adj"/>
            </a:avLst>
          </a:prstGeom>
          <a:solidFill>
            <a:srgbClr val="EEF8F6"/>
          </a:solidFill>
          <a:ln cap="flat" cmpd="sng" w="12700">
            <a:solidFill>
              <a:srgbClr val="C8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712714" y="1323594"/>
            <a:ext cx="822960" cy="233172"/>
          </a:xfrm>
          <a:prstGeom prst="roundRect">
            <a:avLst>
              <a:gd fmla="val 35294" name="adj"/>
            </a:avLst>
          </a:prstGeom>
          <a:solidFill>
            <a:srgbClr val="DDF3EF"/>
          </a:solidFill>
          <a:ln cap="flat" cmpd="sng" w="12700">
            <a:solidFill>
              <a:srgbClr val="DD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5767578" y="1368171"/>
            <a:ext cx="71323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GOOD NEWS</a:t>
            </a:r>
            <a:endParaRPr sz="1100"/>
          </a:p>
        </p:txBody>
      </p:sp>
      <p:sp>
        <p:nvSpPr>
          <p:cNvPr id="98" name="Google Shape;98;p17"/>
          <p:cNvSpPr/>
          <p:nvPr/>
        </p:nvSpPr>
        <p:spPr>
          <a:xfrm>
            <a:off x="5986963" y="1741928"/>
            <a:ext cx="21603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No hardware.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No data collection.</a:t>
            </a:r>
            <a:endParaRPr sz="1100"/>
          </a:p>
        </p:txBody>
      </p:sp>
      <p:sp>
        <p:nvSpPr>
          <p:cNvPr id="99" name="Google Shape;99;p17"/>
          <p:cNvSpPr/>
          <p:nvPr/>
        </p:nvSpPr>
        <p:spPr>
          <a:xfrm>
            <a:off x="5976744" y="2489459"/>
            <a:ext cx="2180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Everything comes from a public WiFi CSI dataset.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You build the software, from raw files to predictions.</a:t>
            </a:r>
            <a:endParaRPr sz="1100"/>
          </a:p>
        </p:txBody>
      </p:sp>
      <p:sp>
        <p:nvSpPr>
          <p:cNvPr id="100" name="Google Shape;100;p17"/>
          <p:cNvSpPr/>
          <p:nvPr/>
        </p:nvSpPr>
        <p:spPr>
          <a:xfrm>
            <a:off x="925830" y="4402836"/>
            <a:ext cx="7338060" cy="192024"/>
          </a:xfrm>
          <a:prstGeom prst="roundRect">
            <a:avLst>
              <a:gd fmla="val 50000" name="adj"/>
            </a:avLst>
          </a:prstGeom>
          <a:solidFill>
            <a:srgbClr val="EAF0F6"/>
          </a:solidFill>
          <a:ln cap="flat" cmpd="sng" w="12700">
            <a:solidFill>
              <a:srgbClr val="EAF0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062990" y="4443984"/>
            <a:ext cx="70637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An open question in WiFi sensing: how many labels does a new home really need?</a:t>
            </a:r>
            <a:endParaRPr sz="1100"/>
          </a:p>
        </p:txBody>
      </p:sp>
      <p:sp>
        <p:nvSpPr>
          <p:cNvPr id="102" name="Google Shape;102;p17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02 • DATASET CONTEXT</a:t>
            </a:r>
            <a:endParaRPr sz="1100"/>
          </a:p>
        </p:txBody>
      </p:sp>
      <p:sp>
        <p:nvSpPr>
          <p:cNvPr id="109" name="Google Shape;109;p18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The dataset: two rooms, one radio</a:t>
            </a:r>
            <a:endParaRPr sz="1100"/>
          </a:p>
        </p:txBody>
      </p:sp>
      <p:sp>
        <p:nvSpPr>
          <p:cNvPr id="110" name="Google Shape;110;p18"/>
          <p:cNvSpPr/>
          <p:nvPr/>
        </p:nvSpPr>
        <p:spPr>
          <a:xfrm>
            <a:off x="425196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The original work has three experiments. You use only Experiments 2 and 3: the same sensing setup in two different rooms.</a:t>
            </a:r>
            <a:endParaRPr sz="1100"/>
          </a:p>
        </p:txBody>
      </p:sp>
      <p:sp>
        <p:nvSpPr>
          <p:cNvPr id="111" name="Google Shape;111;p18"/>
          <p:cNvSpPr/>
          <p:nvPr/>
        </p:nvSpPr>
        <p:spPr>
          <a:xfrm>
            <a:off x="425196" y="1405889"/>
            <a:ext cx="8154162" cy="1200150"/>
          </a:xfrm>
          <a:prstGeom prst="roundRect">
            <a:avLst>
              <a:gd fmla="val 8140" name="adj"/>
            </a:avLst>
          </a:prstGeom>
          <a:solidFill>
            <a:srgbClr val="EAF4FF"/>
          </a:solidFill>
          <a:ln cap="flat" cmpd="sng" w="12700">
            <a:solidFill>
              <a:srgbClr val="B9D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76072" y="1549907"/>
            <a:ext cx="891540" cy="233172"/>
          </a:xfrm>
          <a:prstGeom prst="roundRect">
            <a:avLst>
              <a:gd fmla="val 35294" name="adj"/>
            </a:avLst>
          </a:prstGeom>
          <a:solidFill>
            <a:srgbClr val="DDEBFA"/>
          </a:solidFill>
          <a:ln cap="flat" cmpd="sng" w="12700">
            <a:solidFill>
              <a:srgbClr val="DDE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30936" y="1591056"/>
            <a:ext cx="78181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THE DATASET</a:t>
            </a:r>
            <a:endParaRPr sz="1100"/>
          </a:p>
        </p:txBody>
      </p:sp>
      <p:sp>
        <p:nvSpPr>
          <p:cNvPr id="114" name="Google Shape;114;p18"/>
          <p:cNvSpPr/>
          <p:nvPr/>
        </p:nvSpPr>
        <p:spPr>
          <a:xfrm>
            <a:off x="617220" y="1865376"/>
            <a:ext cx="77495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Two rooms, recorded with the same router setup</a:t>
            </a:r>
            <a:endParaRPr sz="1100"/>
          </a:p>
        </p:txBody>
      </p:sp>
      <p:sp>
        <p:nvSpPr>
          <p:cNvPr id="115" name="Google Shape;115;p18"/>
          <p:cNvSpPr/>
          <p:nvPr/>
        </p:nvSpPr>
        <p:spPr>
          <a:xfrm>
            <a:off x="617220" y="2112264"/>
            <a:ext cx="774954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Asus RT-AC86U • BCM4366c0 • 5 GHz • 80 MHz • 256 CSI subcarriers</a:t>
            </a:r>
            <a:endParaRPr sz="1100"/>
          </a:p>
        </p:txBody>
      </p:sp>
      <p:sp>
        <p:nvSpPr>
          <p:cNvPr id="116" name="Google Shape;116;p18"/>
          <p:cNvSpPr/>
          <p:nvPr/>
        </p:nvSpPr>
        <p:spPr>
          <a:xfrm>
            <a:off x="617220" y="2318004"/>
            <a:ext cx="77495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Same sensing setup in both rooms. What changes: the room, the recording session and the activity set.</a:t>
            </a:r>
            <a:endParaRPr sz="1100"/>
          </a:p>
        </p:txBody>
      </p:sp>
      <p:sp>
        <p:nvSpPr>
          <p:cNvPr id="117" name="Google Shape;117;p18"/>
          <p:cNvSpPr/>
          <p:nvPr/>
        </p:nvSpPr>
        <p:spPr>
          <a:xfrm>
            <a:off x="425196" y="2777490"/>
            <a:ext cx="3806190" cy="857250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28066" y="2887218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84682" y="2859786"/>
            <a:ext cx="322326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Experiment 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884682" y="3072384"/>
            <a:ext cx="325755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Room A • 3.5 × 4.5 m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SIT / STAND / WALK / SIT-DOWN / STAND-UP / FALL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773168" y="2777490"/>
            <a:ext cx="3806190" cy="857250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876038" y="2887218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8B8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A8B8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5232654" y="2859786"/>
            <a:ext cx="322326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Experiment 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5232654" y="3072384"/>
            <a:ext cx="325755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Room B • 4.5 × 5 m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EMPTY / LYING / SIT / STAND / WALK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125" name="Google Shape;125;p18"/>
          <p:cNvCxnSpPr/>
          <p:nvPr/>
        </p:nvCxnSpPr>
        <p:spPr>
          <a:xfrm>
            <a:off x="4265676" y="3202686"/>
            <a:ext cx="473202" cy="0"/>
          </a:xfrm>
          <a:prstGeom prst="straightConnector1">
            <a:avLst/>
          </a:prstGeom>
          <a:noFill/>
          <a:ln cap="flat" cmpd="sng" w="25400">
            <a:solidFill>
              <a:srgbClr val="173B5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18"/>
          <p:cNvSpPr/>
          <p:nvPr/>
        </p:nvSpPr>
        <p:spPr>
          <a:xfrm>
            <a:off x="425196" y="3806190"/>
            <a:ext cx="815416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The bridge between A and B: SIT, STAND and WALK exist in both rooms. Every other activity exists in one room only.</a:t>
            </a:r>
            <a:endParaRPr sz="1100"/>
          </a:p>
        </p:txBody>
      </p:sp>
      <p:sp>
        <p:nvSpPr>
          <p:cNvPr id="127" name="Google Shape;127;p18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03 • PHYSICAL SENSING ARCHITECTURE</a:t>
            </a:r>
            <a:endParaRPr sz="1100"/>
          </a:p>
        </p:txBody>
      </p:sp>
      <p:sp>
        <p:nvSpPr>
          <p:cNvPr id="134" name="Google Shape;134;p19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How CSI is collected in Experiments 2 &amp; 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25196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Two Asus RT-AC86U routers are used, but only the second one (RX) extracts CSI with Nexmon.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14350" y="1508760"/>
            <a:ext cx="1577340" cy="857250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 cap="flat" cmpd="sng" w="12700">
            <a:solidFill>
              <a:srgbClr val="765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617220" y="1618488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57D9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7657D9"/>
                </a:solidFill>
                <a:latin typeface="Arial"/>
                <a:ea typeface="Arial"/>
                <a:cs typeface="Arial"/>
                <a:sym typeface="Arial"/>
              </a:rPr>
              <a:t>TX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973836" y="1672699"/>
            <a:ext cx="1014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Intel NUC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733799" y="1915909"/>
            <a:ext cx="1241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Traffic generator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Sends ping packets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2777490" y="1371600"/>
            <a:ext cx="1817370" cy="1131570"/>
          </a:xfrm>
          <a:prstGeom prst="roundRect">
            <a:avLst>
              <a:gd fmla="val 9697" name="adj"/>
            </a:avLst>
          </a:prstGeom>
          <a:solidFill>
            <a:srgbClr val="FFFFFF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880360" y="1481328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AP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236976" y="1525334"/>
            <a:ext cx="1254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Asus RT-AC86U #1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000325" y="1778800"/>
            <a:ext cx="14814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Access Point (AP)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Provides the Wi-Fi link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520690" y="1371600"/>
            <a:ext cx="2468880" cy="1131570"/>
          </a:xfrm>
          <a:prstGeom prst="roundRect">
            <a:avLst>
              <a:gd fmla="val 9697" name="adj"/>
            </a:avLst>
          </a:prstGeom>
          <a:solidFill>
            <a:srgbClr val="FFFFFF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5623560" y="1481328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8B8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A8B8"/>
                </a:solidFill>
                <a:latin typeface="Arial"/>
                <a:ea typeface="Arial"/>
                <a:cs typeface="Arial"/>
                <a:sym typeface="Arial"/>
              </a:rPr>
              <a:t>RX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980176" y="1535539"/>
            <a:ext cx="19065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Asus RT-AC86U #2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987039" y="1786519"/>
            <a:ext cx="18927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Nexmon-patched CSI extractor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Monitor mode • BCM4366c0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148" name="Google Shape;148;p19"/>
          <p:cNvCxnSpPr/>
          <p:nvPr/>
        </p:nvCxnSpPr>
        <p:spPr>
          <a:xfrm>
            <a:off x="2112264" y="1933956"/>
            <a:ext cx="644652" cy="0"/>
          </a:xfrm>
          <a:prstGeom prst="straightConnector1">
            <a:avLst/>
          </a:prstGeom>
          <a:noFill/>
          <a:ln cap="flat" cmpd="sng" w="33000">
            <a:solidFill>
              <a:srgbClr val="7657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19"/>
          <p:cNvSpPr/>
          <p:nvPr/>
        </p:nvSpPr>
        <p:spPr>
          <a:xfrm>
            <a:off x="2318004" y="1714500"/>
            <a:ext cx="3429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57D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7657D9"/>
                </a:solidFill>
                <a:latin typeface="Arial"/>
                <a:ea typeface="Arial"/>
                <a:cs typeface="Arial"/>
                <a:sym typeface="Arial"/>
              </a:rPr>
              <a:t>ping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>
            <a:off x="4608576" y="1933956"/>
            <a:ext cx="877824" cy="0"/>
          </a:xfrm>
          <a:prstGeom prst="straightConnector1">
            <a:avLst/>
          </a:prstGeom>
          <a:noFill/>
          <a:ln cap="flat" cmpd="sng" w="330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p19"/>
          <p:cNvSpPr/>
          <p:nvPr/>
        </p:nvSpPr>
        <p:spPr>
          <a:xfrm>
            <a:off x="5726425" y="2935225"/>
            <a:ext cx="2057400" cy="922500"/>
          </a:xfrm>
          <a:prstGeom prst="roundRect">
            <a:avLst>
              <a:gd fmla="val 11200" name="adj"/>
            </a:avLst>
          </a:prstGeom>
          <a:solidFill>
            <a:srgbClr val="E6F8F8"/>
          </a:solidFill>
          <a:ln cap="flat" cmpd="sng" w="12700">
            <a:solidFill>
              <a:srgbClr val="B8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932170" y="3059158"/>
            <a:ext cx="651600" cy="219600"/>
          </a:xfrm>
          <a:prstGeom prst="wave">
            <a:avLst>
              <a:gd fmla="val 12500" name="adj1"/>
              <a:gd fmla="val 0" name="adj2"/>
            </a:avLst>
          </a:prstGeom>
          <a:solidFill>
            <a:srgbClr val="1FA8B8">
              <a:alpha val="0"/>
            </a:srgbClr>
          </a:solidFill>
          <a:ln cap="flat" cmpd="sng" w="27925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6652260" y="3099816"/>
            <a:ext cx="10972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CSI per received frame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801900" y="3332304"/>
            <a:ext cx="18858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The extractor observes the AP↔NUC traffic in monitor mode and exposes CSI. The CSI is then stored for processing.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55" name="Google Shape;155;p19"/>
          <p:cNvCxnSpPr/>
          <p:nvPr/>
        </p:nvCxnSpPr>
        <p:spPr>
          <a:xfrm>
            <a:off x="6755130" y="2523744"/>
            <a:ext cx="0" cy="384048"/>
          </a:xfrm>
          <a:prstGeom prst="straightConnector1">
            <a:avLst/>
          </a:prstGeom>
          <a:noFill/>
          <a:ln cap="flat" cmpd="sng" w="29200">
            <a:solidFill>
              <a:srgbClr val="1FA8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19"/>
          <p:cNvSpPr/>
          <p:nvPr/>
        </p:nvSpPr>
        <p:spPr>
          <a:xfrm>
            <a:off x="514350" y="4080510"/>
            <a:ext cx="1885950" cy="425196"/>
          </a:xfrm>
          <a:prstGeom prst="roundRect">
            <a:avLst>
              <a:gd fmla="val 22581" name="adj"/>
            </a:avLst>
          </a:prstGeom>
          <a:solidFill>
            <a:srgbClr val="F1F5F9"/>
          </a:solidFill>
          <a:ln cap="flat" cmpd="sng" w="12700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96646" y="4149090"/>
            <a:ext cx="49377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5 GHz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1104138" y="4169337"/>
            <a:ext cx="120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lang="en" sz="900">
                <a:solidFill>
                  <a:schemeClr val="dk1"/>
                </a:solidFill>
              </a:rPr>
              <a:t>Chosen for the Asus experiments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2606040" y="4080510"/>
            <a:ext cx="1885950" cy="425196"/>
          </a:xfrm>
          <a:prstGeom prst="roundRect">
            <a:avLst>
              <a:gd fmla="val 22581" name="adj"/>
            </a:avLst>
          </a:prstGeom>
          <a:solidFill>
            <a:srgbClr val="F1F5F9"/>
          </a:solidFill>
          <a:ln cap="flat" cmpd="sng" w="12700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688336" y="4149090"/>
            <a:ext cx="49377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80 MHz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195828" y="4138721"/>
            <a:ext cx="120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Bandwidth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697730" y="4080510"/>
            <a:ext cx="1885950" cy="425196"/>
          </a:xfrm>
          <a:prstGeom prst="roundRect">
            <a:avLst>
              <a:gd fmla="val 22581" name="adj"/>
            </a:avLst>
          </a:prstGeom>
          <a:solidFill>
            <a:srgbClr val="F1F5F9"/>
          </a:solidFill>
          <a:ln cap="flat" cmpd="sng" w="12700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780026" y="4149090"/>
            <a:ext cx="49377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256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195670" y="4169337"/>
            <a:ext cx="120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CSI subcarrier positions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789420" y="4080510"/>
            <a:ext cx="1885950" cy="425196"/>
          </a:xfrm>
          <a:prstGeom prst="roundRect">
            <a:avLst>
              <a:gd fmla="val 22581" name="adj"/>
            </a:avLst>
          </a:prstGeom>
          <a:solidFill>
            <a:srgbClr val="F1F5F9"/>
          </a:solidFill>
          <a:ln cap="flat" cmpd="sng" w="12700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871726" y="4149100"/>
            <a:ext cx="6000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8B8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A8B8"/>
                </a:solidFill>
                <a:latin typeface="Arial"/>
                <a:ea typeface="Arial"/>
                <a:cs typeface="Arial"/>
                <a:sym typeface="Arial"/>
              </a:rPr>
              <a:t>Nexmon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7450646" y="4169337"/>
            <a:ext cx="120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CSI extraction framework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68" name="Google Shape;168;p19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04 • WHAT IS THE SAME AND WHAT CHANGES?</a:t>
            </a:r>
            <a:endParaRPr sz="1100"/>
          </a:p>
        </p:txBody>
      </p:sp>
      <p:sp>
        <p:nvSpPr>
          <p:cNvPr id="175" name="Google Shape;175;p20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Experiment 2 vs Experiment 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25196" y="1110996"/>
            <a:ext cx="1611630" cy="397764"/>
          </a:xfrm>
          <a:prstGeom prst="roundRect">
            <a:avLst>
              <a:gd fmla="val 24138" name="adj"/>
            </a:avLst>
          </a:prstGeom>
          <a:solidFill>
            <a:srgbClr val="173B57"/>
          </a:solidFill>
          <a:ln cap="flat" cmpd="sng" w="12700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036826" y="1110996"/>
            <a:ext cx="3086100" cy="397764"/>
          </a:xfrm>
          <a:prstGeom prst="roundRect">
            <a:avLst>
              <a:gd fmla="val 24138" name="adj"/>
            </a:avLst>
          </a:prstGeom>
          <a:solidFill>
            <a:srgbClr val="DCEBFA"/>
          </a:solidFill>
          <a:ln cap="flat" cmpd="sng" w="12700">
            <a:solidFill>
              <a:srgbClr val="B9D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122926" y="1110996"/>
            <a:ext cx="3120390" cy="397764"/>
          </a:xfrm>
          <a:prstGeom prst="roundRect">
            <a:avLst>
              <a:gd fmla="val 24138" name="adj"/>
            </a:avLst>
          </a:prstGeom>
          <a:solidFill>
            <a:srgbClr val="DFF6F4"/>
          </a:solidFill>
          <a:ln cap="flat" cmpd="sng" w="12700">
            <a:solidFill>
              <a:srgbClr val="B8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48640" y="1227582"/>
            <a:ext cx="13373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139696" y="1227582"/>
            <a:ext cx="28529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Experiment 2 • Room 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253228" y="1227582"/>
            <a:ext cx="28529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Experiment 3 • Room B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25196" y="1543050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036826" y="1543050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122926" y="1543050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28066" y="1632204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CSI hardware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139696" y="1604772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Asus RT-AC86U / BCM4366c0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225796" y="1604772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Asus RT-AC86U / BCM4366c0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25196" y="1927098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036826" y="1927098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122926" y="1927098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28066" y="2016252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CSI extraction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139696" y="1988820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Nexmon CSI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225796" y="1988820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Nexmon CSI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25196" y="2311146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036826" y="2311146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122926" y="2311146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28066" y="2400300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Bandwidth / CSI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139696" y="2372868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80 MHz / 256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225796" y="2372868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80 MHz / 256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25196" y="2695194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2036826" y="2695194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122926" y="2695194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28066" y="2784348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Room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139696" y="2756916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3.5 × 4.5 m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225796" y="2756916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4.5 × 5 m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25196" y="3079242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036826" y="3079242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122926" y="3079242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28066" y="3168396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Activities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139696" y="3140964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SIT-DOWN, STAND-UP, SIT, STAND, WALK, FALL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225796" y="3140964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EMPTY, LYING, SIT, STAND, WALK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25196" y="3463290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036826" y="3463290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122926" y="3463290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28066" y="3552444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Distributed data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139696" y="3525012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Raw .pcap captures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225796" y="3525012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Amplitude .csv captures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25196" y="3847338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036826" y="3847338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122926" y="3847338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28066" y="3936492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Your first job</a:t>
            </a:r>
            <a:endParaRPr sz="1100"/>
          </a:p>
        </p:txBody>
      </p:sp>
      <p:sp>
        <p:nvSpPr>
          <p:cNvPr id="222" name="Google Shape;222;p20"/>
          <p:cNvSpPr/>
          <p:nvPr/>
        </p:nvSpPr>
        <p:spPr>
          <a:xfrm>
            <a:off x="2139696" y="3909060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Decode complex CSI from raw packets</a:t>
            </a:r>
            <a:endParaRPr sz="1100"/>
          </a:p>
        </p:txBody>
      </p:sp>
      <p:sp>
        <p:nvSpPr>
          <p:cNvPr id="223" name="Google Shape;223;p20"/>
          <p:cNvSpPr/>
          <p:nvPr/>
        </p:nvSpPr>
        <p:spPr>
          <a:xfrm>
            <a:off x="5225796" y="3909060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Read amplitude; match Room A's format</a:t>
            </a:r>
            <a:endParaRPr sz="1100"/>
          </a:p>
        </p:txBody>
      </p:sp>
      <p:sp>
        <p:nvSpPr>
          <p:cNvPr id="224" name="Google Shape;224;p20"/>
          <p:cNvSpPr/>
          <p:nvPr/>
        </p:nvSpPr>
        <p:spPr>
          <a:xfrm>
            <a:off x="425196" y="4265676"/>
            <a:ext cx="1200150" cy="246888"/>
          </a:xfrm>
          <a:prstGeom prst="roundRect">
            <a:avLst>
              <a:gd fmla="val 25000" name="adj"/>
            </a:avLst>
          </a:prstGeom>
          <a:solidFill>
            <a:srgbClr val="E8F5EF"/>
          </a:solidFill>
          <a:ln cap="flat" cmpd="sng" w="12700">
            <a:solidFill>
              <a:srgbClr val="CFE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80060" y="4327398"/>
            <a:ext cx="109042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Hackathon idea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748790" y="4286250"/>
            <a:ext cx="6515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Same sensing platform + different environment = cross-room transfer.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05 • DATASET LAYOUT</a:t>
            </a:r>
            <a:endParaRPr sz="1100"/>
          </a:p>
        </p:txBody>
      </p:sp>
      <p:sp>
        <p:nvSpPr>
          <p:cNvPr id="234" name="Google Shape;234;p21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What you will actually receive</a:t>
            </a:r>
            <a:endParaRPr sz="1100"/>
          </a:p>
        </p:txBody>
      </p:sp>
      <p:sp>
        <p:nvSpPr>
          <p:cNvPr id="235" name="Google Shape;235;p21"/>
          <p:cNvSpPr/>
          <p:nvPr/>
        </p:nvSpPr>
        <p:spPr>
          <a:xfrm>
            <a:off x="425196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The two archives look different on purpose. Bringing them into one format is part of the challenge.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25196" y="1405890"/>
            <a:ext cx="4046220" cy="2708910"/>
          </a:xfrm>
          <a:prstGeom prst="roundRect">
            <a:avLst>
              <a:gd fmla="val 3544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76072" y="1549908"/>
            <a:ext cx="1495044" cy="233172"/>
          </a:xfrm>
          <a:prstGeom prst="roundRect">
            <a:avLst>
              <a:gd fmla="val 35294" name="adj"/>
            </a:avLst>
          </a:prstGeom>
          <a:solidFill>
            <a:srgbClr val="E4F0FC"/>
          </a:solidFill>
          <a:ln cap="flat" cmpd="sng" w="12700">
            <a:solidFill>
              <a:srgbClr val="E4F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30936" y="1594485"/>
            <a:ext cx="138531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EXPERIMENT 2 • ROOM A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17220" y="1933956"/>
            <a:ext cx="3600450" cy="17487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73B57"/>
                </a:solidFill>
              </a:rPr>
              <a:t>Experiment-2/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└── realdata/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└── input_data/30ms/csidata/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    ├── fall/        *.pcap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    ├── sit/         *.pcap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    ├── sitdown/     *.pcap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    ├── stand/       *.pcap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    ├── standup/     *.pcap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    ├── walk/        *.pcap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66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0E7C66"/>
                </a:solidFill>
              </a:rPr>
              <a:t>        └── validation/  25 per class</a:t>
            </a:r>
            <a:endParaRPr b="1" sz="1300"/>
          </a:p>
        </p:txBody>
      </p:sp>
      <p:sp>
        <p:nvSpPr>
          <p:cNvPr id="240" name="Google Shape;240;p21"/>
          <p:cNvSpPr/>
          <p:nvPr/>
        </p:nvSpPr>
        <p:spPr>
          <a:xfrm>
            <a:off x="4677156" y="1405890"/>
            <a:ext cx="4046220" cy="2708910"/>
          </a:xfrm>
          <a:prstGeom prst="roundRect">
            <a:avLst>
              <a:gd fmla="val 3544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828032" y="1549908"/>
            <a:ext cx="1495044" cy="233172"/>
          </a:xfrm>
          <a:prstGeom prst="roundRect">
            <a:avLst>
              <a:gd fmla="val 35294" name="adj"/>
            </a:avLst>
          </a:prstGeom>
          <a:solidFill>
            <a:srgbClr val="E1F6F5"/>
          </a:solidFill>
          <a:ln cap="flat" cmpd="sng" w="12700">
            <a:solidFill>
              <a:srgbClr val="E1F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882896" y="1594485"/>
            <a:ext cx="138531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8B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1FA8B8"/>
                </a:solidFill>
                <a:latin typeface="Arial"/>
                <a:ea typeface="Arial"/>
                <a:cs typeface="Arial"/>
                <a:sym typeface="Arial"/>
              </a:rPr>
              <a:t>EXPERIMENT 3 • ROOM B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855464" y="1933956"/>
            <a:ext cx="3497580" cy="17487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73B57"/>
                </a:solidFill>
              </a:rPr>
              <a:t>Experiment-3/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└── Data/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├── Empty_Amp_*.csv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├── Lying_Amp_*.csv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├── Sitting_Amp_*.csv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├── Standing_Amp_*.csv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   └── Walking_*.csv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182230"/>
                </a:solidFill>
              </a:rPr>
              <a:t> 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66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0E7C66"/>
                </a:solidFill>
              </a:rPr>
              <a:t>No validation/ folder: you create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66"/>
              </a:buClr>
              <a:buSzPts val="800"/>
              <a:buFont typeface="Consolas"/>
              <a:buNone/>
            </a:pPr>
            <a:r>
              <a:rPr b="1" lang="en" sz="1000">
                <a:solidFill>
                  <a:srgbClr val="0E7C66"/>
                </a:solidFill>
              </a:rPr>
              <a:t>one, 25 captures/class, seed 42.</a:t>
            </a:r>
            <a:endParaRPr b="1" sz="1300"/>
          </a:p>
        </p:txBody>
      </p:sp>
      <p:sp>
        <p:nvSpPr>
          <p:cNvPr id="244" name="Google Shape;244;p21"/>
          <p:cNvSpPr/>
          <p:nvPr/>
        </p:nvSpPr>
        <p:spPr>
          <a:xfrm>
            <a:off x="603504" y="4238244"/>
            <a:ext cx="7989570" cy="288036"/>
          </a:xfrm>
          <a:prstGeom prst="roundRect">
            <a:avLst>
              <a:gd fmla="val 33333" name="adj"/>
            </a:avLst>
          </a:prstGeom>
          <a:solidFill>
            <a:srgbClr val="F0F5F9"/>
          </a:solidFill>
          <a:ln cap="flat" cmpd="sng" w="12700">
            <a:solidFill>
              <a:srgbClr val="E3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740664" y="4313682"/>
            <a:ext cx="76809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85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D9485F"/>
                </a:solidFill>
                <a:latin typeface="Arial"/>
                <a:ea typeface="Arial"/>
                <a:cs typeface="Arial"/>
                <a:sym typeface="Arial"/>
              </a:rPr>
              <a:t>Validation captures are for evaluation only, never for training. Do not use the authors’ MATLAB folder or notebook.</a:t>
            </a:r>
            <a:endParaRPr sz="1100"/>
          </a:p>
        </p:txBody>
      </p:sp>
      <p:sp>
        <p:nvSpPr>
          <p:cNvPr id="246" name="Google Shape;246;p21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06 • HINTS, NOT THE SOLUTION</a:t>
            </a:r>
            <a:endParaRPr sz="1100"/>
          </a:p>
        </p:txBody>
      </p:sp>
      <p:sp>
        <p:nvSpPr>
          <p:cNvPr id="253" name="Google Shape;253;p22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Your job: build the entire pipeline in Python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25196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We give you the interfaces, data structure and hints. You decide the algorithms.</a:t>
            </a:r>
            <a:endParaRPr sz="1100"/>
          </a:p>
        </p:txBody>
      </p:sp>
      <p:sp>
        <p:nvSpPr>
          <p:cNvPr id="255" name="Google Shape;255;p22"/>
          <p:cNvSpPr/>
          <p:nvPr/>
        </p:nvSpPr>
        <p:spPr>
          <a:xfrm>
            <a:off x="493776" y="1405890"/>
            <a:ext cx="3826764" cy="534924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582930" y="1522476"/>
            <a:ext cx="267462" cy="267462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82930" y="1577340"/>
            <a:ext cx="26746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960120" y="1495044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Inspect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1851660" y="147447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PCAP / CSV structure, packet rows, labels, ordering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93776" y="2091690"/>
            <a:ext cx="3826764" cy="534924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82930" y="2208276"/>
            <a:ext cx="267462" cy="267462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582930" y="2263140"/>
            <a:ext cx="26746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960120" y="2180844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Decode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1851660" y="216027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Experiment 2: recover complex CSI in Python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493776" y="2777490"/>
            <a:ext cx="3826764" cy="534924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82930" y="2894076"/>
            <a:ext cx="267462" cy="267462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82930" y="2948940"/>
            <a:ext cx="26746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960120" y="2866644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Amplitude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1851660" y="284607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Convert complex CSI to a real amplitude representation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93776" y="3463290"/>
            <a:ext cx="3826764" cy="534924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582930" y="3579876"/>
            <a:ext cx="267462" cy="267462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582930" y="3634740"/>
            <a:ext cx="26746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960120" y="3552444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1851660" y="353187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Validity checks, missing/zero CSI, optional filtering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4711446" y="1405890"/>
            <a:ext cx="3826764" cy="534924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800600" y="1522476"/>
            <a:ext cx="267462" cy="267462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800600" y="1577340"/>
            <a:ext cx="26746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5177790" y="1495044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Common form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069330" y="147447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Make both rooms 256-column amplitude sequences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4711446" y="2091690"/>
            <a:ext cx="3826764" cy="534924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800600" y="2208276"/>
            <a:ext cx="267462" cy="267462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800600" y="2263140"/>
            <a:ext cx="26746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177790" y="2180844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6069330" y="216027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Build deterministic 150 × 256 inputs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711446" y="2777490"/>
            <a:ext cx="3826764" cy="534924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800600" y="2894076"/>
            <a:ext cx="267462" cy="267462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800600" y="2948940"/>
            <a:ext cx="26746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5177790" y="2866644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Normalize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6069330" y="284607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Choose a leakage-safe strategy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4711446" y="3463290"/>
            <a:ext cx="3826764" cy="534924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4800600" y="3579876"/>
            <a:ext cx="267462" cy="267462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800600" y="3634740"/>
            <a:ext cx="26746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5177790" y="3552444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Learn &amp; adapt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069330" y="353187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SSL encoder + room routing + few-shot HAR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93776" y="4251960"/>
            <a:ext cx="7989570" cy="308610"/>
          </a:xfrm>
          <a:prstGeom prst="roundRect">
            <a:avLst>
              <a:gd fmla="val 31111" name="adj"/>
            </a:avLst>
          </a:prstGeom>
          <a:solidFill>
            <a:srgbClr val="FFF7E6"/>
          </a:solidFill>
          <a:ln cap="flat" cmpd="sng" w="12700">
            <a:solidFill>
              <a:srgbClr val="F2D1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651510" y="4334256"/>
            <a:ext cx="7646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Python only. General-purpose libraries are allowed; translating the source MATLAB pipeline is not.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07 • THE THREE TASKS</a:t>
            </a:r>
            <a:endParaRPr sz="1100"/>
          </a:p>
        </p:txBody>
      </p:sp>
      <p:sp>
        <p:nvSpPr>
          <p:cNvPr id="304" name="Google Shape;304;p23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What you are actually being asked to solve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493776" y="1337310"/>
            <a:ext cx="2551176" cy="2366010"/>
          </a:xfrm>
          <a:prstGeom prst="roundRect">
            <a:avLst>
              <a:gd fmla="val 4058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644652" y="1495044"/>
            <a:ext cx="685800" cy="233172"/>
          </a:xfrm>
          <a:prstGeom prst="roundRect">
            <a:avLst>
              <a:gd fmla="val 35294" name="adj"/>
            </a:avLst>
          </a:prstGeom>
          <a:solidFill>
            <a:srgbClr val="E4F0FC"/>
          </a:solidFill>
          <a:ln cap="flat" cmpd="sng" w="12700">
            <a:solidFill>
              <a:srgbClr val="E4F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699516" y="1539621"/>
            <a:ext cx="5760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TASK 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644652" y="1865376"/>
            <a:ext cx="21259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WHERE AM I?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644652" y="2276856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Given a 150 × 256 CSI window, predict Room A or Room B. In Task 3 it also routes windows; compare it with the true room.</a:t>
            </a:r>
            <a:endParaRPr sz="1100"/>
          </a:p>
        </p:txBody>
      </p:sp>
      <p:sp>
        <p:nvSpPr>
          <p:cNvPr id="310" name="Google Shape;310;p23"/>
          <p:cNvSpPr/>
          <p:nvPr/>
        </p:nvSpPr>
        <p:spPr>
          <a:xfrm>
            <a:off x="644652" y="3168396"/>
            <a:ext cx="2125980" cy="329184"/>
          </a:xfrm>
          <a:prstGeom prst="roundRect">
            <a:avLst>
              <a:gd fmla="val 29167" name="adj"/>
            </a:avLst>
          </a:prstGeom>
          <a:solidFill>
            <a:srgbClr val="F5F7FA"/>
          </a:solidFill>
          <a:ln cap="flat" cmpd="sng" w="12700">
            <a:solidFill>
              <a:srgbClr val="E7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726948" y="3264408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1467612" y="3264408"/>
            <a:ext cx="11658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A / B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3291840" y="1337310"/>
            <a:ext cx="2551176" cy="2366010"/>
          </a:xfrm>
          <a:prstGeom prst="roundRect">
            <a:avLst>
              <a:gd fmla="val 4058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3442716" y="1495044"/>
            <a:ext cx="685800" cy="233172"/>
          </a:xfrm>
          <a:prstGeom prst="roundRect">
            <a:avLst>
              <a:gd fmla="val 35294" name="adj"/>
            </a:avLst>
          </a:prstGeom>
          <a:solidFill>
            <a:srgbClr val="E1F6F5"/>
          </a:solidFill>
          <a:ln cap="flat" cmpd="sng" w="12700">
            <a:solidFill>
              <a:srgbClr val="E1F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3497580" y="1539621"/>
            <a:ext cx="5760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8B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1FA8B8"/>
                </a:solidFill>
                <a:latin typeface="Arial"/>
                <a:ea typeface="Arial"/>
                <a:cs typeface="Arial"/>
                <a:sym typeface="Arial"/>
              </a:rPr>
              <a:t>TASK 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3442716" y="1865376"/>
            <a:ext cx="21259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LEARN WITHOUT LABELS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3442716" y="2276856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Learn a CSI encoder without activity labels. Freeze it and test it with a linear classifier.</a:t>
            </a:r>
            <a:endParaRPr sz="1100"/>
          </a:p>
        </p:txBody>
      </p:sp>
      <p:sp>
        <p:nvSpPr>
          <p:cNvPr id="318" name="Google Shape;318;p23"/>
          <p:cNvSpPr/>
          <p:nvPr/>
        </p:nvSpPr>
        <p:spPr>
          <a:xfrm>
            <a:off x="3442716" y="3168396"/>
            <a:ext cx="2125980" cy="329184"/>
          </a:xfrm>
          <a:prstGeom prst="roundRect">
            <a:avLst>
              <a:gd fmla="val 29167" name="adj"/>
            </a:avLst>
          </a:prstGeom>
          <a:solidFill>
            <a:srgbClr val="F5F7FA"/>
          </a:solidFill>
          <a:ln cap="flat" cmpd="sng" w="12700">
            <a:solidFill>
              <a:srgbClr val="E7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3525012" y="3264408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Macro-F1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4265676" y="3264408"/>
            <a:ext cx="11658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A8B8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FA8B8"/>
                </a:solidFill>
                <a:latin typeface="Arial"/>
                <a:ea typeface="Arial"/>
                <a:cs typeface="Arial"/>
                <a:sym typeface="Arial"/>
              </a:rPr>
              <a:t>SSL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6089904" y="1337310"/>
            <a:ext cx="2551176" cy="2366010"/>
          </a:xfrm>
          <a:prstGeom prst="roundRect">
            <a:avLst>
              <a:gd fmla="val 4058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6240780" y="1495044"/>
            <a:ext cx="685800" cy="233172"/>
          </a:xfrm>
          <a:prstGeom prst="roundRect">
            <a:avLst>
              <a:gd fmla="val 35294" name="adj"/>
            </a:avLst>
          </a:prstGeom>
          <a:solidFill>
            <a:srgbClr val="EEE9FC"/>
          </a:solidFill>
          <a:ln cap="flat" cmpd="sng" w="12700">
            <a:solidFill>
              <a:srgbClr val="EEE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6295644" y="1539621"/>
            <a:ext cx="5760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57D9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7657D9"/>
                </a:solidFill>
                <a:latin typeface="Arial"/>
                <a:ea typeface="Arial"/>
                <a:cs typeface="Arial"/>
                <a:sym typeface="Arial"/>
              </a:rPr>
              <a:t>TASK 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6240780" y="1865376"/>
            <a:ext cx="21259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NEW ROOM, FEW LABELS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6240780" y="2276856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Recognize SIT / STAND / WALK in a room with no labels for them, and learn room-only activities from just K captures.</a:t>
            </a:r>
            <a:endParaRPr sz="1100"/>
          </a:p>
        </p:txBody>
      </p:sp>
      <p:sp>
        <p:nvSpPr>
          <p:cNvPr id="326" name="Google Shape;326;p23"/>
          <p:cNvSpPr/>
          <p:nvPr/>
        </p:nvSpPr>
        <p:spPr>
          <a:xfrm>
            <a:off x="6240780" y="3168396"/>
            <a:ext cx="2125980" cy="329184"/>
          </a:xfrm>
          <a:prstGeom prst="roundRect">
            <a:avLst>
              <a:gd fmla="val 29167" name="adj"/>
            </a:avLst>
          </a:prstGeom>
          <a:solidFill>
            <a:srgbClr val="F5F7FA"/>
          </a:solidFill>
          <a:ln cap="flat" cmpd="sng" w="12700">
            <a:solidFill>
              <a:srgbClr val="E7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6323076" y="3264408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Macro-F1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7063740" y="3264408"/>
            <a:ext cx="11658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57D9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7657D9"/>
                </a:solidFill>
                <a:latin typeface="Arial"/>
                <a:ea typeface="Arial"/>
                <a:cs typeface="Arial"/>
                <a:sym typeface="Arial"/>
              </a:rPr>
              <a:t>K = 1,5,10,20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788670" y="3977640"/>
            <a:ext cx="7509510" cy="521208"/>
          </a:xfrm>
          <a:prstGeom prst="roundRect">
            <a:avLst>
              <a:gd fmla="val 18421" name="adj"/>
            </a:avLst>
          </a:prstGeom>
          <a:solidFill>
            <a:srgbClr val="173B57"/>
          </a:solidFill>
          <a:ln cap="flat" cmpd="sng" w="12700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994410" y="4135374"/>
            <a:ext cx="70980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central question: can you get useful activity transfer across rooms with far fewer target labels?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3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" sz="700">
                <a:solidFill>
                  <a:srgbClr val="2F80ED"/>
                </a:solidFill>
              </a:rPr>
              <a:t>8</a:t>
            </a: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 • THE RULE THAT PREVENTS LEAKAGE</a:t>
            </a:r>
            <a:endParaRPr sz="1100"/>
          </a:p>
        </p:txBody>
      </p:sp>
      <p:sp>
        <p:nvSpPr>
          <p:cNvPr id="338" name="Google Shape;338;p24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One rule: split by capture</a:t>
            </a:r>
            <a:endParaRPr sz="1100"/>
          </a:p>
        </p:txBody>
      </p:sp>
      <p:sp>
        <p:nvSpPr>
          <p:cNvPr id="339" name="Google Shape;339;p24"/>
          <p:cNvSpPr/>
          <p:nvPr/>
        </p:nvSpPr>
        <p:spPr>
          <a:xfrm>
            <a:off x="425196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5B6B7F"/>
                </a:solidFill>
                <a:latin typeface="Arial"/>
                <a:ea typeface="Arial"/>
                <a:cs typeface="Arial"/>
                <a:sym typeface="Arial"/>
              </a:rPr>
              <a:t>All windows from one capture stay on the same side: development or validation.</a:t>
            </a:r>
            <a:endParaRPr sz="1100"/>
          </a:p>
        </p:txBody>
      </p:sp>
      <p:sp>
        <p:nvSpPr>
          <p:cNvPr id="340" name="Google Shape;340;p24"/>
          <p:cNvSpPr/>
          <p:nvPr/>
        </p:nvSpPr>
        <p:spPr>
          <a:xfrm>
            <a:off x="493776" y="1405890"/>
            <a:ext cx="3840480" cy="1062990"/>
          </a:xfrm>
          <a:prstGeom prst="roundRect">
            <a:avLst>
              <a:gd fmla="val 9032" name="adj"/>
            </a:avLst>
          </a:prstGeom>
          <a:solidFill>
            <a:srgbClr val="F0FBF7"/>
          </a:solidFill>
          <a:ln cap="flat" cmpd="sng" w="12700">
            <a:solidFill>
              <a:srgbClr val="C7E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651510" y="1495044"/>
            <a:ext cx="17145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6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E7C66"/>
                </a:solidFill>
                <a:latin typeface="Arial"/>
                <a:ea typeface="Arial"/>
                <a:cs typeface="Arial"/>
                <a:sym typeface="Arial"/>
              </a:rPr>
              <a:t>✓ CORRECT</a:t>
            </a:r>
            <a:endParaRPr sz="1100"/>
          </a:p>
        </p:txBody>
      </p:sp>
      <p:sp>
        <p:nvSpPr>
          <p:cNvPr id="342" name="Google Shape;342;p24"/>
          <p:cNvSpPr/>
          <p:nvPr/>
        </p:nvSpPr>
        <p:spPr>
          <a:xfrm>
            <a:off x="651510" y="1796796"/>
            <a:ext cx="32918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capture_017.pcap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   ├── window 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   ├── window 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   └── window 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          ↓ all stay in ONE split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493776" y="2633472"/>
            <a:ext cx="3840480" cy="1062990"/>
          </a:xfrm>
          <a:prstGeom prst="roundRect">
            <a:avLst>
              <a:gd fmla="val 9032" name="adj"/>
            </a:avLst>
          </a:prstGeom>
          <a:solidFill>
            <a:srgbClr val="FFF2F4"/>
          </a:solidFill>
          <a:ln cap="flat" cmpd="sng" w="12700">
            <a:solidFill>
              <a:srgbClr val="F3C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651510" y="2722626"/>
            <a:ext cx="17145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✕ WRONG</a:t>
            </a:r>
            <a:endParaRPr sz="1100"/>
          </a:p>
        </p:txBody>
      </p:sp>
      <p:sp>
        <p:nvSpPr>
          <p:cNvPr id="345" name="Google Shape;345;p24"/>
          <p:cNvSpPr/>
          <p:nvPr/>
        </p:nvSpPr>
        <p:spPr>
          <a:xfrm>
            <a:off x="651510" y="3024378"/>
            <a:ext cx="32918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capture_017.pcap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   ├── window 1 → train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   ├── window 2 → validation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182230"/>
                </a:solidFill>
                <a:latin typeface="Consolas"/>
                <a:ea typeface="Consolas"/>
                <a:cs typeface="Consolas"/>
                <a:sym typeface="Consolas"/>
              </a:rPr>
              <a:t>   └── window 3 → train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4560570" y="1405890"/>
            <a:ext cx="4046220" cy="2290572"/>
          </a:xfrm>
          <a:prstGeom prst="roundRect">
            <a:avLst>
              <a:gd fmla="val 4192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4732020" y="1543050"/>
            <a:ext cx="1028700" cy="233172"/>
          </a:xfrm>
          <a:prstGeom prst="roundRect">
            <a:avLst>
              <a:gd fmla="val 35294" name="adj"/>
            </a:avLst>
          </a:prstGeom>
          <a:solidFill>
            <a:srgbClr val="EEE9FC"/>
          </a:solidFill>
          <a:ln cap="flat" cmpd="sng" w="12700">
            <a:solidFill>
              <a:srgbClr val="EEE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4786884" y="1587627"/>
            <a:ext cx="9189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57D9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7657D9"/>
                </a:solidFill>
                <a:latin typeface="Arial"/>
                <a:ea typeface="Arial"/>
                <a:cs typeface="Arial"/>
                <a:sym typeface="Arial"/>
              </a:rPr>
              <a:t>REMEMBER</a:t>
            </a:r>
            <a:endParaRPr sz="1100"/>
          </a:p>
        </p:txBody>
      </p:sp>
      <p:sp>
        <p:nvSpPr>
          <p:cNvPr id="349" name="Google Shape;349;p24"/>
          <p:cNvSpPr/>
          <p:nvPr/>
        </p:nvSpPr>
        <p:spPr>
          <a:xfrm>
            <a:off x="4732020" y="1906524"/>
            <a:ext cx="36347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1 capture = 1 unit</a:t>
            </a:r>
            <a:endParaRPr sz="1100"/>
          </a:p>
        </p:txBody>
      </p:sp>
      <p:sp>
        <p:nvSpPr>
          <p:cNvPr id="350" name="Google Shape;350;p24"/>
          <p:cNvSpPr/>
          <p:nvPr/>
        </p:nvSpPr>
        <p:spPr>
          <a:xfrm>
            <a:off x="4732020" y="2297430"/>
            <a:ext cx="3634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K = number of captures, not windows.</a:t>
            </a:r>
            <a:endParaRPr sz="1100"/>
          </a:p>
        </p:txBody>
      </p:sp>
      <p:sp>
        <p:nvSpPr>
          <p:cNvPr id="351" name="Google Shape;351;p24"/>
          <p:cNvSpPr/>
          <p:nvPr/>
        </p:nvSpPr>
        <p:spPr>
          <a:xfrm>
            <a:off x="4732020" y="2708910"/>
            <a:ext cx="353187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182230"/>
                </a:solidFill>
              </a:rPr>
              <a:t>Validation is for scoring and comparing models.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Never train on it or pick support from it.</a:t>
            </a:r>
            <a:endParaRPr sz="1100"/>
          </a:p>
        </p:txBody>
      </p:sp>
      <p:sp>
        <p:nvSpPr>
          <p:cNvPr id="352" name="Google Shape;352;p24"/>
          <p:cNvSpPr/>
          <p:nvPr/>
        </p:nvSpPr>
        <p:spPr>
          <a:xfrm>
            <a:off x="4560570" y="3854196"/>
            <a:ext cx="4046220" cy="534924"/>
          </a:xfrm>
          <a:prstGeom prst="roundRect">
            <a:avLst>
              <a:gd fmla="val 17949" name="adj"/>
            </a:avLst>
          </a:prstGeom>
          <a:solidFill>
            <a:srgbClr val="EAF4FF"/>
          </a:solidFill>
          <a:ln cap="flat" cmpd="sng" w="12700">
            <a:solidFill>
              <a:srgbClr val="CDE0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4732020" y="3881628"/>
            <a:ext cx="366903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Room A: use the supplied validation/. Room B: make your own, 25 per class, seed 42.</a:t>
            </a:r>
            <a:endParaRPr sz="1100"/>
          </a:p>
        </p:txBody>
      </p:sp>
      <p:sp>
        <p:nvSpPr>
          <p:cNvPr id="354" name="Google Shape;354;p24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</a:rPr>
              <a:t>09</a:t>
            </a: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 • WHAT IS ALLOWED</a:t>
            </a:r>
            <a:endParaRPr sz="1100"/>
          </a:p>
        </p:txBody>
      </p:sp>
      <p:sp>
        <p:nvSpPr>
          <p:cNvPr id="360" name="Google Shape;360;p25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The rules in one slide</a:t>
            </a:r>
            <a:endParaRPr sz="1100"/>
          </a:p>
        </p:txBody>
      </p:sp>
      <p:sp>
        <p:nvSpPr>
          <p:cNvPr id="361" name="Google Shape;361;p25"/>
          <p:cNvSpPr/>
          <p:nvPr/>
        </p:nvSpPr>
        <p:spPr>
          <a:xfrm>
            <a:off x="425196" y="1110996"/>
            <a:ext cx="1611630" cy="397764"/>
          </a:xfrm>
          <a:prstGeom prst="roundRect">
            <a:avLst>
              <a:gd fmla="val 24138" name="adj"/>
            </a:avLst>
          </a:prstGeom>
          <a:solidFill>
            <a:srgbClr val="173B57"/>
          </a:solidFill>
          <a:ln cap="flat" cmpd="sng" w="12700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2036826" y="1110996"/>
            <a:ext cx="3086100" cy="397764"/>
          </a:xfrm>
          <a:prstGeom prst="roundRect">
            <a:avLst>
              <a:gd fmla="val 24138" name="adj"/>
            </a:avLst>
          </a:prstGeom>
          <a:solidFill>
            <a:srgbClr val="DFF6F4"/>
          </a:solidFill>
          <a:ln cap="flat" cmpd="sng" w="12700">
            <a:solidFill>
              <a:srgbClr val="B8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5122926" y="1110996"/>
            <a:ext cx="3120390" cy="397764"/>
          </a:xfrm>
          <a:prstGeom prst="roundRect">
            <a:avLst>
              <a:gd fmla="val 24138" name="adj"/>
            </a:avLst>
          </a:prstGeom>
          <a:solidFill>
            <a:srgbClr val="FDECEC"/>
          </a:solidFill>
          <a:ln cap="flat" cmpd="sng" w="12700">
            <a:solidFill>
              <a:srgbClr val="F6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548640" y="1227582"/>
            <a:ext cx="13373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sz="1100"/>
          </a:p>
        </p:txBody>
      </p:sp>
      <p:sp>
        <p:nvSpPr>
          <p:cNvPr id="365" name="Google Shape;365;p25"/>
          <p:cNvSpPr/>
          <p:nvPr/>
        </p:nvSpPr>
        <p:spPr>
          <a:xfrm>
            <a:off x="2139696" y="1227582"/>
            <a:ext cx="28529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66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0E7C66"/>
                </a:solidFill>
                <a:latin typeface="Arial"/>
                <a:ea typeface="Arial"/>
                <a:cs typeface="Arial"/>
                <a:sym typeface="Arial"/>
              </a:rPr>
              <a:t>Allowed</a:t>
            </a:r>
            <a:endParaRPr sz="1100"/>
          </a:p>
        </p:txBody>
      </p:sp>
      <p:sp>
        <p:nvSpPr>
          <p:cNvPr id="366" name="Google Shape;366;p25"/>
          <p:cNvSpPr/>
          <p:nvPr/>
        </p:nvSpPr>
        <p:spPr>
          <a:xfrm>
            <a:off x="5253228" y="1227582"/>
            <a:ext cx="28529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Not allowed</a:t>
            </a:r>
            <a:endParaRPr sz="1100"/>
          </a:p>
        </p:txBody>
      </p:sp>
      <p:sp>
        <p:nvSpPr>
          <p:cNvPr id="367" name="Google Shape;367;p25"/>
          <p:cNvSpPr/>
          <p:nvPr/>
        </p:nvSpPr>
        <p:spPr>
          <a:xfrm>
            <a:off x="425196" y="1543050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2036826" y="1543050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5122926" y="1543050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528066" y="1632204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Code and docs</a:t>
            </a:r>
            <a:endParaRPr sz="1100"/>
          </a:p>
        </p:txBody>
      </p:sp>
      <p:sp>
        <p:nvSpPr>
          <p:cNvPr id="371" name="Google Shape;371;p25"/>
          <p:cNvSpPr/>
          <p:nvPr/>
        </p:nvSpPr>
        <p:spPr>
          <a:xfrm>
            <a:off x="2139696" y="1604772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The paper, Nexmon docs, CSI-format docs</a:t>
            </a:r>
            <a:endParaRPr sz="1100"/>
          </a:p>
        </p:txBody>
      </p:sp>
      <p:sp>
        <p:nvSpPr>
          <p:cNvPr id="372" name="Google Shape;372;p25"/>
          <p:cNvSpPr/>
          <p:nvPr/>
        </p:nvSpPr>
        <p:spPr>
          <a:xfrm>
            <a:off x="5225796" y="1604772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Authors' MATLAB code or notebook, or ports</a:t>
            </a:r>
            <a:endParaRPr sz="1100"/>
          </a:p>
        </p:txBody>
      </p:sp>
      <p:sp>
        <p:nvSpPr>
          <p:cNvPr id="373" name="Google Shape;373;p25"/>
          <p:cNvSpPr/>
          <p:nvPr/>
        </p:nvSpPr>
        <p:spPr>
          <a:xfrm>
            <a:off x="425196" y="1927098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2036826" y="1927098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5122926" y="1927098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528066" y="2016252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Libraries</a:t>
            </a:r>
            <a:endParaRPr sz="1100"/>
          </a:p>
        </p:txBody>
      </p:sp>
      <p:sp>
        <p:nvSpPr>
          <p:cNvPr id="377" name="Google Shape;377;p25"/>
          <p:cNvSpPr/>
          <p:nvPr/>
        </p:nvSpPr>
        <p:spPr>
          <a:xfrm>
            <a:off x="2139696" y="1988820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Any PCAP parser; NumPy, scikit-learn, PyTorch</a:t>
            </a:r>
            <a:endParaRPr sz="1100"/>
          </a:p>
        </p:txBody>
      </p:sp>
      <p:sp>
        <p:nvSpPr>
          <p:cNvPr id="378" name="Google Shape;378;p25"/>
          <p:cNvSpPr/>
          <p:nvPr/>
        </p:nvSpPr>
        <p:spPr>
          <a:xfrm>
            <a:off x="5225796" y="1988820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Another team's code</a:t>
            </a:r>
            <a:endParaRPr sz="1100"/>
          </a:p>
        </p:txBody>
      </p:sp>
      <p:sp>
        <p:nvSpPr>
          <p:cNvPr id="379" name="Google Shape;379;p25"/>
          <p:cNvSpPr/>
          <p:nvPr/>
        </p:nvSpPr>
        <p:spPr>
          <a:xfrm>
            <a:off x="425196" y="2311146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2036826" y="2311146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5122926" y="2311146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528066" y="2400300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100"/>
          </a:p>
        </p:txBody>
      </p:sp>
      <p:sp>
        <p:nvSpPr>
          <p:cNvPr id="383" name="Google Shape;383;p25"/>
          <p:cNvSpPr/>
          <p:nvPr/>
        </p:nvSpPr>
        <p:spPr>
          <a:xfrm>
            <a:off x="2139696" y="2372868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Development captures of both rooms</a:t>
            </a:r>
            <a:endParaRPr sz="1100"/>
          </a:p>
        </p:txBody>
      </p:sp>
      <p:sp>
        <p:nvSpPr>
          <p:cNvPr id="384" name="Google Shape;384;p25"/>
          <p:cNvSpPr/>
          <p:nvPr/>
        </p:nvSpPr>
        <p:spPr>
          <a:xfrm>
            <a:off x="5225796" y="2372868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Validation captures for training or support</a:t>
            </a:r>
            <a:endParaRPr sz="1100"/>
          </a:p>
        </p:txBody>
      </p:sp>
      <p:sp>
        <p:nvSpPr>
          <p:cNvPr id="385" name="Google Shape;385;p25"/>
          <p:cNvSpPr/>
          <p:nvPr/>
        </p:nvSpPr>
        <p:spPr>
          <a:xfrm>
            <a:off x="425196" y="2695194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2036826" y="2695194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5122926" y="2695194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528066" y="2784348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Labels</a:t>
            </a:r>
            <a:endParaRPr sz="1100"/>
          </a:p>
        </p:txBody>
      </p:sp>
      <p:sp>
        <p:nvSpPr>
          <p:cNvPr id="389" name="Google Shape;389;p25"/>
          <p:cNvSpPr/>
          <p:nvPr/>
        </p:nvSpPr>
        <p:spPr>
          <a:xfrm>
            <a:off x="2139696" y="2756916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</a:rPr>
              <a:t>Task 3: </a:t>
            </a: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Source-room labels + the K support captures</a:t>
            </a:r>
            <a:endParaRPr sz="1100"/>
          </a:p>
        </p:txBody>
      </p:sp>
      <p:sp>
        <p:nvSpPr>
          <p:cNvPr id="390" name="Google Shape;390;p25"/>
          <p:cNvSpPr/>
          <p:nvPr/>
        </p:nvSpPr>
        <p:spPr>
          <a:xfrm>
            <a:off x="5225796" y="2756916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</a:rPr>
              <a:t>Task 3: </a:t>
            </a: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Target labels beyond the K support captures</a:t>
            </a:r>
            <a:endParaRPr sz="1100"/>
          </a:p>
        </p:txBody>
      </p:sp>
      <p:sp>
        <p:nvSpPr>
          <p:cNvPr id="391" name="Google Shape;391;p25"/>
          <p:cNvSpPr/>
          <p:nvPr/>
        </p:nvSpPr>
        <p:spPr>
          <a:xfrm>
            <a:off x="425196" y="3079242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2036826" y="3079242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5122926" y="3079242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528066" y="3168396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1100"/>
          </a:p>
        </p:txBody>
      </p:sp>
      <p:sp>
        <p:nvSpPr>
          <p:cNvPr id="395" name="Google Shape;395;p25"/>
          <p:cNvSpPr/>
          <p:nvPr/>
        </p:nvSpPr>
        <p:spPr>
          <a:xfrm>
            <a:off x="2139696" y="3140964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What is in the CSI signal itself</a:t>
            </a:r>
            <a:endParaRPr sz="1100"/>
          </a:p>
        </p:txBody>
      </p:sp>
      <p:sp>
        <p:nvSpPr>
          <p:cNvPr id="396" name="Google Shape;396;p25"/>
          <p:cNvSpPr/>
          <p:nvPr/>
        </p:nvSpPr>
        <p:spPr>
          <a:xfrm>
            <a:off x="5225796" y="3140964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Filenames, folders, capture length</a:t>
            </a:r>
            <a:endParaRPr sz="1100"/>
          </a:p>
        </p:txBody>
      </p:sp>
      <p:sp>
        <p:nvSpPr>
          <p:cNvPr id="397" name="Google Shape;397;p25"/>
          <p:cNvSpPr/>
          <p:nvPr/>
        </p:nvSpPr>
        <p:spPr>
          <a:xfrm>
            <a:off x="425196" y="3463290"/>
            <a:ext cx="161163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2036826" y="3463290"/>
            <a:ext cx="308610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5122926" y="3463290"/>
            <a:ext cx="3120390" cy="342900"/>
          </a:xfrm>
          <a:prstGeom prst="roundRect">
            <a:avLst>
              <a:gd fmla="val 16000" name="adj"/>
            </a:avLst>
          </a:prstGeom>
          <a:solidFill>
            <a:srgbClr val="F7FAFC"/>
          </a:solidFill>
          <a:ln cap="flat" cmpd="sng" w="12700">
            <a:solidFill>
              <a:srgbClr val="E6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528066" y="3552444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endParaRPr sz="1100"/>
          </a:p>
        </p:txBody>
      </p:sp>
      <p:sp>
        <p:nvSpPr>
          <p:cNvPr id="401" name="Google Shape;401;p25"/>
          <p:cNvSpPr/>
          <p:nvPr/>
        </p:nvSpPr>
        <p:spPr>
          <a:xfrm>
            <a:off x="2139696" y="3525012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Statistics fitted on development data</a:t>
            </a:r>
            <a:endParaRPr sz="1100"/>
          </a:p>
        </p:txBody>
      </p:sp>
      <p:sp>
        <p:nvSpPr>
          <p:cNvPr id="402" name="Google Shape;402;p25"/>
          <p:cNvSpPr/>
          <p:nvPr/>
        </p:nvSpPr>
        <p:spPr>
          <a:xfrm>
            <a:off x="5225796" y="3525012"/>
            <a:ext cx="28460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Statistics fitted on validation data</a:t>
            </a:r>
            <a:endParaRPr sz="1100"/>
          </a:p>
        </p:txBody>
      </p:sp>
      <p:sp>
        <p:nvSpPr>
          <p:cNvPr id="403" name="Google Shape;403;p25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6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" sz="700">
                <a:solidFill>
                  <a:srgbClr val="2F80ED"/>
                </a:solidFill>
              </a:rPr>
              <a:t>0</a:t>
            </a: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 • IDEAS TO GET STARTED</a:t>
            </a:r>
            <a:endParaRPr sz="1100"/>
          </a:p>
        </p:txBody>
      </p:sp>
      <p:sp>
        <p:nvSpPr>
          <p:cNvPr id="409" name="Google Shape;409;p26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Ideas, not instructions</a:t>
            </a:r>
            <a:endParaRPr sz="1100"/>
          </a:p>
        </p:txBody>
      </p:sp>
      <p:sp>
        <p:nvSpPr>
          <p:cNvPr id="410" name="Google Shape;410;p26"/>
          <p:cNvSpPr/>
          <p:nvPr/>
        </p:nvSpPr>
        <p:spPr>
          <a:xfrm>
            <a:off x="493776" y="1337310"/>
            <a:ext cx="2551176" cy="2366010"/>
          </a:xfrm>
          <a:prstGeom prst="roundRect">
            <a:avLst>
              <a:gd fmla="val 4058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644652" y="1495044"/>
            <a:ext cx="685800" cy="233172"/>
          </a:xfrm>
          <a:prstGeom prst="roundRect">
            <a:avLst>
              <a:gd fmla="val 35294" name="adj"/>
            </a:avLst>
          </a:prstGeom>
          <a:solidFill>
            <a:srgbClr val="E4F0FC"/>
          </a:solidFill>
          <a:ln cap="flat" cmpd="sng" w="12700">
            <a:solidFill>
              <a:srgbClr val="E4F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699516" y="1539621"/>
            <a:ext cx="5760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TASK 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644652" y="1865376"/>
            <a:ext cx="21259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ROOM FINGERPRINT</a:t>
            </a:r>
            <a:endParaRPr sz="1100"/>
          </a:p>
        </p:txBody>
      </p:sp>
      <p:sp>
        <p:nvSpPr>
          <p:cNvPr id="414" name="Google Shape;414;p26"/>
          <p:cNvSpPr/>
          <p:nvPr/>
        </p:nvSpPr>
        <p:spPr>
          <a:xfrm>
            <a:off x="644652" y="2276856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Use still windows: average amplitude per subcarrier is shaped by walls and furniture. Start with a simple classifier.</a:t>
            </a:r>
            <a:endParaRPr sz="1100"/>
          </a:p>
        </p:txBody>
      </p:sp>
      <p:sp>
        <p:nvSpPr>
          <p:cNvPr id="415" name="Google Shape;415;p26"/>
          <p:cNvSpPr/>
          <p:nvPr/>
        </p:nvSpPr>
        <p:spPr>
          <a:xfrm>
            <a:off x="644652" y="3168396"/>
            <a:ext cx="2125980" cy="329184"/>
          </a:xfrm>
          <a:prstGeom prst="roundRect">
            <a:avLst>
              <a:gd fmla="val 29167" name="adj"/>
            </a:avLst>
          </a:prstGeom>
          <a:solidFill>
            <a:srgbClr val="F5F7FA"/>
          </a:solidFill>
          <a:ln cap="flat" cmpd="sng" w="12700">
            <a:solidFill>
              <a:srgbClr val="E7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6"/>
          <p:cNvSpPr/>
          <p:nvPr/>
        </p:nvSpPr>
        <p:spPr>
          <a:xfrm>
            <a:off x="726948" y="3264408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Read up</a:t>
            </a:r>
            <a:endParaRPr sz="1100"/>
          </a:p>
        </p:txBody>
      </p:sp>
      <p:sp>
        <p:nvSpPr>
          <p:cNvPr id="417" name="Google Shape;417;p26"/>
          <p:cNvSpPr/>
          <p:nvPr/>
        </p:nvSpPr>
        <p:spPr>
          <a:xfrm>
            <a:off x="1467612" y="3264408"/>
            <a:ext cx="11658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CSI fingerprinting</a:t>
            </a:r>
            <a:endParaRPr sz="1100"/>
          </a:p>
        </p:txBody>
      </p:sp>
      <p:sp>
        <p:nvSpPr>
          <p:cNvPr id="418" name="Google Shape;418;p26"/>
          <p:cNvSpPr/>
          <p:nvPr/>
        </p:nvSpPr>
        <p:spPr>
          <a:xfrm>
            <a:off x="3291840" y="1337310"/>
            <a:ext cx="2551176" cy="2366010"/>
          </a:xfrm>
          <a:prstGeom prst="roundRect">
            <a:avLst>
              <a:gd fmla="val 4058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3442716" y="1495044"/>
            <a:ext cx="685800" cy="233172"/>
          </a:xfrm>
          <a:prstGeom prst="roundRect">
            <a:avLst>
              <a:gd fmla="val 35294" name="adj"/>
            </a:avLst>
          </a:prstGeom>
          <a:solidFill>
            <a:srgbClr val="E1F6F5"/>
          </a:solidFill>
          <a:ln cap="flat" cmpd="sng" w="12700">
            <a:solidFill>
              <a:srgbClr val="E1F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3497580" y="1539621"/>
            <a:ext cx="5760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8B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1FA8B8"/>
                </a:solidFill>
                <a:latin typeface="Arial"/>
                <a:ea typeface="Arial"/>
                <a:cs typeface="Arial"/>
                <a:sym typeface="Arial"/>
              </a:rPr>
              <a:t>TASK 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3442716" y="1865376"/>
            <a:ext cx="21259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SELF-SUPERVISION</a:t>
            </a:r>
            <a:endParaRPr sz="1100"/>
          </a:p>
        </p:txBody>
      </p:sp>
      <p:sp>
        <p:nvSpPr>
          <p:cNvPr id="422" name="Google Shape;422;p26"/>
          <p:cNvSpPr/>
          <p:nvPr/>
        </p:nvSpPr>
        <p:spPr>
          <a:xfrm>
            <a:off x="3442716" y="2276856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Contrastive learning with augmentations (crop, noise, subcarrier masking), or masked reconstruction.</a:t>
            </a:r>
            <a:endParaRPr sz="1100"/>
          </a:p>
        </p:txBody>
      </p:sp>
      <p:sp>
        <p:nvSpPr>
          <p:cNvPr id="423" name="Google Shape;423;p26"/>
          <p:cNvSpPr/>
          <p:nvPr/>
        </p:nvSpPr>
        <p:spPr>
          <a:xfrm>
            <a:off x="3442716" y="3168396"/>
            <a:ext cx="2125980" cy="329184"/>
          </a:xfrm>
          <a:prstGeom prst="roundRect">
            <a:avLst>
              <a:gd fmla="val 29167" name="adj"/>
            </a:avLst>
          </a:prstGeom>
          <a:solidFill>
            <a:srgbClr val="F5F7FA"/>
          </a:solidFill>
          <a:ln cap="flat" cmpd="sng" w="12700">
            <a:solidFill>
              <a:srgbClr val="E7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3525012" y="3264408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Read up</a:t>
            </a:r>
            <a:endParaRPr sz="1100"/>
          </a:p>
        </p:txBody>
      </p:sp>
      <p:sp>
        <p:nvSpPr>
          <p:cNvPr id="425" name="Google Shape;425;p26"/>
          <p:cNvSpPr/>
          <p:nvPr/>
        </p:nvSpPr>
        <p:spPr>
          <a:xfrm>
            <a:off x="4265676" y="3264408"/>
            <a:ext cx="11658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A8B8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FA8B8"/>
                </a:solidFill>
                <a:latin typeface="Arial"/>
                <a:ea typeface="Arial"/>
                <a:cs typeface="Arial"/>
                <a:sym typeface="Arial"/>
              </a:rPr>
              <a:t>SimCLR, MAE</a:t>
            </a:r>
            <a:endParaRPr sz="1100"/>
          </a:p>
        </p:txBody>
      </p:sp>
      <p:sp>
        <p:nvSpPr>
          <p:cNvPr id="426" name="Google Shape;426;p26"/>
          <p:cNvSpPr/>
          <p:nvPr/>
        </p:nvSpPr>
        <p:spPr>
          <a:xfrm>
            <a:off x="6089904" y="1337310"/>
            <a:ext cx="2551176" cy="2366010"/>
          </a:xfrm>
          <a:prstGeom prst="roundRect">
            <a:avLst>
              <a:gd fmla="val 4058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6240780" y="1495044"/>
            <a:ext cx="685800" cy="233172"/>
          </a:xfrm>
          <a:prstGeom prst="roundRect">
            <a:avLst>
              <a:gd fmla="val 35294" name="adj"/>
            </a:avLst>
          </a:prstGeom>
          <a:solidFill>
            <a:srgbClr val="EEE9FC"/>
          </a:solidFill>
          <a:ln cap="flat" cmpd="sng" w="12700">
            <a:solidFill>
              <a:srgbClr val="EEE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6295644" y="1539621"/>
            <a:ext cx="5760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57D9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7657D9"/>
                </a:solidFill>
                <a:latin typeface="Arial"/>
                <a:ea typeface="Arial"/>
                <a:cs typeface="Arial"/>
                <a:sym typeface="Arial"/>
              </a:rPr>
              <a:t>TASK 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6240780" y="1865376"/>
            <a:ext cx="21259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FEW-SHOT TRANSFER</a:t>
            </a:r>
            <a:endParaRPr sz="1100"/>
          </a:p>
        </p:txBody>
      </p:sp>
      <p:sp>
        <p:nvSpPr>
          <p:cNvPr id="430" name="Google Shape;430;p26"/>
          <p:cNvSpPr/>
          <p:nvPr/>
        </p:nvSpPr>
        <p:spPr>
          <a:xfrm>
            <a:off x="6240780" y="2276856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Class prototypes or nearest centroid on frozen embeddings; per-room normalization; test-time adaptation.</a:t>
            </a:r>
            <a:endParaRPr sz="1100"/>
          </a:p>
        </p:txBody>
      </p:sp>
      <p:sp>
        <p:nvSpPr>
          <p:cNvPr id="431" name="Google Shape;431;p26"/>
          <p:cNvSpPr/>
          <p:nvPr/>
        </p:nvSpPr>
        <p:spPr>
          <a:xfrm>
            <a:off x="6240780" y="3168396"/>
            <a:ext cx="2125980" cy="329184"/>
          </a:xfrm>
          <a:prstGeom prst="roundRect">
            <a:avLst>
              <a:gd fmla="val 29167" name="adj"/>
            </a:avLst>
          </a:prstGeom>
          <a:solidFill>
            <a:srgbClr val="F5F7FA"/>
          </a:solidFill>
          <a:ln cap="flat" cmpd="sng" w="12700">
            <a:solidFill>
              <a:srgbClr val="E7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6323076" y="3264408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Read up</a:t>
            </a:r>
            <a:endParaRPr sz="1100"/>
          </a:p>
        </p:txBody>
      </p:sp>
      <p:sp>
        <p:nvSpPr>
          <p:cNvPr id="433" name="Google Shape;433;p26"/>
          <p:cNvSpPr/>
          <p:nvPr/>
        </p:nvSpPr>
        <p:spPr>
          <a:xfrm>
            <a:off x="7063740" y="3264408"/>
            <a:ext cx="11658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57D9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7657D9"/>
                </a:solidFill>
                <a:latin typeface="Arial"/>
                <a:ea typeface="Arial"/>
                <a:cs typeface="Arial"/>
                <a:sym typeface="Arial"/>
              </a:rPr>
              <a:t>ProtoNets, AdaBN</a:t>
            </a:r>
            <a:endParaRPr sz="1100"/>
          </a:p>
        </p:txBody>
      </p:sp>
      <p:sp>
        <p:nvSpPr>
          <p:cNvPr id="434" name="Google Shape;434;p26"/>
          <p:cNvSpPr/>
          <p:nvPr/>
        </p:nvSpPr>
        <p:spPr>
          <a:xfrm>
            <a:off x="994410" y="4135374"/>
            <a:ext cx="70980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 simple: </a:t>
            </a:r>
            <a:r>
              <a:rPr b="1" lang="en" sz="1000">
                <a:solidFill>
                  <a:srgbClr val="FFFFFF"/>
                </a:solidFill>
              </a:rPr>
              <a:t>a pipeline that runs end to end</a:t>
            </a: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beats a clever model that doesn't.</a:t>
            </a:r>
            <a:endParaRPr sz="1100"/>
          </a:p>
        </p:txBody>
      </p:sp>
      <p:sp>
        <p:nvSpPr>
          <p:cNvPr id="435" name="Google Shape;435;p26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"/>
          <p:cNvSpPr/>
          <p:nvPr/>
        </p:nvSpPr>
        <p:spPr>
          <a:xfrm>
            <a:off x="425196" y="308610"/>
            <a:ext cx="617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" sz="700">
                <a:solidFill>
                  <a:srgbClr val="2F80ED"/>
                </a:solidFill>
              </a:rPr>
              <a:t>1</a:t>
            </a:r>
            <a:r>
              <a:rPr b="1" lang="en" sz="7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 • DELIVERABLES</a:t>
            </a:r>
            <a:endParaRPr sz="1100"/>
          </a:p>
        </p:txBody>
      </p:sp>
      <p:sp>
        <p:nvSpPr>
          <p:cNvPr id="442" name="Google Shape;442;p27"/>
          <p:cNvSpPr/>
          <p:nvPr/>
        </p:nvSpPr>
        <p:spPr>
          <a:xfrm>
            <a:off x="425196" y="493776"/>
            <a:ext cx="82296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What we expect in your report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493776" y="1165860"/>
            <a:ext cx="4834890" cy="3188970"/>
          </a:xfrm>
          <a:prstGeom prst="roundRect">
            <a:avLst>
              <a:gd fmla="val 3011" name="adj"/>
            </a:avLst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651510" y="1323594"/>
            <a:ext cx="617220" cy="233172"/>
          </a:xfrm>
          <a:prstGeom prst="roundRect">
            <a:avLst>
              <a:gd fmla="val 35294" name="adj"/>
            </a:avLst>
          </a:prstGeom>
          <a:solidFill>
            <a:srgbClr val="E4F0FC"/>
          </a:solidFill>
          <a:ln cap="flat" cmpd="sng" w="12700">
            <a:solidFill>
              <a:srgbClr val="E4F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7"/>
          <p:cNvSpPr/>
          <p:nvPr/>
        </p:nvSpPr>
        <p:spPr>
          <a:xfrm>
            <a:off x="706374" y="1368171"/>
            <a:ext cx="50749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672084" y="1728216"/>
            <a:ext cx="82296" cy="82296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843534" y="1700784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Your Python preprocessing pipeline diagram</a:t>
            </a:r>
            <a:endParaRPr sz="1100"/>
          </a:p>
        </p:txBody>
      </p:sp>
      <p:sp>
        <p:nvSpPr>
          <p:cNvPr id="448" name="Google Shape;448;p27"/>
          <p:cNvSpPr/>
          <p:nvPr/>
        </p:nvSpPr>
        <p:spPr>
          <a:xfrm>
            <a:off x="672084" y="1975104"/>
            <a:ext cx="82296" cy="82296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843534" y="1947672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Why you made each preprocessing choice</a:t>
            </a:r>
            <a:endParaRPr sz="1100"/>
          </a:p>
        </p:txBody>
      </p:sp>
      <p:sp>
        <p:nvSpPr>
          <p:cNvPr id="450" name="Google Shape;450;p27"/>
          <p:cNvSpPr/>
          <p:nvPr/>
        </p:nvSpPr>
        <p:spPr>
          <a:xfrm>
            <a:off x="672084" y="2221992"/>
            <a:ext cx="82296" cy="82296"/>
          </a:xfrm>
          <a:prstGeom prst="ellipse">
            <a:avLst/>
          </a:prstGeom>
          <a:solidFill>
            <a:srgbClr val="1FA8B8"/>
          </a:solidFill>
          <a:ln cap="flat" cmpd="sng" w="12700">
            <a:solidFill>
              <a:srgbClr val="1F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843534" y="2194560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How you built the validation sets and your development splits</a:t>
            </a:r>
            <a:endParaRPr sz="1100"/>
          </a:p>
        </p:txBody>
      </p:sp>
      <p:sp>
        <p:nvSpPr>
          <p:cNvPr id="452" name="Google Shape;452;p27"/>
          <p:cNvSpPr/>
          <p:nvPr/>
        </p:nvSpPr>
        <p:spPr>
          <a:xfrm>
            <a:off x="672084" y="2468880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843534" y="2441448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Task 1 room accuracy; Task 2 linear-probe macro-F1</a:t>
            </a:r>
            <a:endParaRPr sz="1100"/>
          </a:p>
        </p:txBody>
      </p:sp>
      <p:sp>
        <p:nvSpPr>
          <p:cNvPr id="454" name="Google Shape;454;p27"/>
          <p:cNvSpPr/>
          <p:nvPr/>
        </p:nvSpPr>
        <p:spPr>
          <a:xfrm>
            <a:off x="672084" y="2715768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7"/>
          <p:cNvSpPr/>
          <p:nvPr/>
        </p:nvSpPr>
        <p:spPr>
          <a:xfrm>
            <a:off x="843534" y="2688336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Task 3 macro-F1 + target-exclusive macro-F1, all K, A→B and B→A</a:t>
            </a:r>
            <a:endParaRPr sz="1100"/>
          </a:p>
        </p:txBody>
      </p:sp>
      <p:sp>
        <p:nvSpPr>
          <p:cNvPr id="456" name="Google Shape;456;p27"/>
          <p:cNvSpPr/>
          <p:nvPr/>
        </p:nvSpPr>
        <p:spPr>
          <a:xfrm>
            <a:off x="672084" y="2962656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843534" y="2935224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Figures: label-efficiency curve; UMAP by room and by activity</a:t>
            </a:r>
            <a:endParaRPr sz="1100"/>
          </a:p>
        </p:txBody>
      </p:sp>
      <p:sp>
        <p:nvSpPr>
          <p:cNvPr id="458" name="Google Shape;458;p27"/>
          <p:cNvSpPr/>
          <p:nvPr/>
        </p:nvSpPr>
        <p:spPr>
          <a:xfrm>
            <a:off x="672084" y="3209544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843534" y="3182112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Figures: room accuracy vs window length; oracle vs predicted room</a:t>
            </a:r>
            <a:endParaRPr sz="1100"/>
          </a:p>
        </p:txBody>
      </p:sp>
      <p:sp>
        <p:nvSpPr>
          <p:cNvPr id="460" name="Google Shape;460;p27"/>
          <p:cNvSpPr/>
          <p:nvPr/>
        </p:nvSpPr>
        <p:spPr>
          <a:xfrm>
            <a:off x="672084" y="3456432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843534" y="3429000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Ablation: what helps and what does not</a:t>
            </a:r>
            <a:endParaRPr sz="1100"/>
          </a:p>
        </p:txBody>
      </p:sp>
      <p:sp>
        <p:nvSpPr>
          <p:cNvPr id="462" name="Google Shape;462;p27"/>
          <p:cNvSpPr/>
          <p:nvPr/>
        </p:nvSpPr>
        <p:spPr>
          <a:xfrm>
            <a:off x="672084" y="3703320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7"/>
          <p:cNvSpPr/>
          <p:nvPr/>
        </p:nvSpPr>
        <p:spPr>
          <a:xfrm>
            <a:off x="843534" y="3675888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Confusion matrices at K = 5 with per-class metrics</a:t>
            </a:r>
            <a:endParaRPr sz="1100"/>
          </a:p>
        </p:txBody>
      </p:sp>
      <p:sp>
        <p:nvSpPr>
          <p:cNvPr id="464" name="Google Shape;464;p27"/>
          <p:cNvSpPr/>
          <p:nvPr/>
        </p:nvSpPr>
        <p:spPr>
          <a:xfrm>
            <a:off x="672084" y="3950208"/>
            <a:ext cx="82296" cy="82296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843534" y="3922776"/>
            <a:ext cx="41490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AI-use and contribution disclosure</a:t>
            </a:r>
            <a:endParaRPr sz="1100"/>
          </a:p>
        </p:txBody>
      </p:sp>
      <p:sp>
        <p:nvSpPr>
          <p:cNvPr id="466" name="Google Shape;466;p27"/>
          <p:cNvSpPr/>
          <p:nvPr/>
        </p:nvSpPr>
        <p:spPr>
          <a:xfrm>
            <a:off x="5541264" y="1165860"/>
            <a:ext cx="3051810" cy="3188970"/>
          </a:xfrm>
          <a:prstGeom prst="roundRect">
            <a:avLst>
              <a:gd fmla="val 3146" name="adj"/>
            </a:avLst>
          </a:prstGeom>
          <a:solidFill>
            <a:srgbClr val="EEF8F6"/>
          </a:solidFill>
          <a:ln cap="flat" cmpd="sng" w="12700">
            <a:solidFill>
              <a:srgbClr val="C8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5712714" y="1323594"/>
            <a:ext cx="720090" cy="233172"/>
          </a:xfrm>
          <a:prstGeom prst="roundRect">
            <a:avLst>
              <a:gd fmla="val 35294" name="adj"/>
            </a:avLst>
          </a:prstGeom>
          <a:solidFill>
            <a:srgbClr val="DDF3EF"/>
          </a:solidFill>
          <a:ln cap="flat" cmpd="sng" w="12700">
            <a:solidFill>
              <a:srgbClr val="DD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5767578" y="1368171"/>
            <a:ext cx="61036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REMEMBER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5733288" y="1748790"/>
            <a:ext cx="216027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Build it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B57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73B57"/>
                </a:solidFill>
                <a:latin typeface="Arial"/>
                <a:ea typeface="Arial"/>
                <a:cs typeface="Arial"/>
                <a:sym typeface="Arial"/>
              </a:rPr>
              <a:t>yourself.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5781294" y="2482596"/>
            <a:ext cx="2180844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The paper gives you the setup and scientific context.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The dataset gives you the raw material.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23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82230"/>
                </a:solidFill>
                <a:latin typeface="Arial"/>
                <a:ea typeface="Arial"/>
                <a:cs typeface="Arial"/>
                <a:sym typeface="Arial"/>
              </a:rPr>
              <a:t>Your team owns the Python pipeline, design choices and analysis.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7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B57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173B57"/>
          </a:solidFill>
          <a:ln cap="flat" cmpd="sng" w="12700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5863590" y="171450"/>
            <a:ext cx="2400300" cy="459486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2F80ED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6041898" y="253746"/>
            <a:ext cx="2249424" cy="4471416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1FA8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6220206" y="336042"/>
            <a:ext cx="2098548" cy="434797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2F80ED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6398514" y="418338"/>
            <a:ext cx="1947672" cy="422452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1FA8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6576822" y="500634"/>
            <a:ext cx="1796796" cy="4101084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73B57">
              <a:alpha val="0"/>
            </a:srgbClr>
          </a:solidFill>
          <a:ln cap="flat" cmpd="sng" w="16500">
            <a:solidFill>
              <a:srgbClr val="2F80ED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480060" y="411480"/>
            <a:ext cx="45262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CB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9CCBFF"/>
                </a:solidFill>
                <a:latin typeface="Arial"/>
                <a:ea typeface="Arial"/>
                <a:cs typeface="Arial"/>
                <a:sym typeface="Arial"/>
              </a:rPr>
              <a:t>CS60055 Ubiquitous Computing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480060" y="850392"/>
            <a:ext cx="507492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Logistics and Q&amp;A</a:t>
            </a:r>
            <a:endParaRPr sz="1100"/>
          </a:p>
        </p:txBody>
      </p:sp>
      <p:sp>
        <p:nvSpPr>
          <p:cNvPr id="484" name="Google Shape;484;p28"/>
          <p:cNvSpPr/>
          <p:nvPr/>
        </p:nvSpPr>
        <p:spPr>
          <a:xfrm>
            <a:off x="480060" y="13716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Groups of 2–3, one GitHub repo per group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Commit as you go: the history counts</a:t>
            </a:r>
            <a:endParaRPr sz="1100"/>
          </a:p>
        </p:txBody>
      </p:sp>
      <p:sp>
        <p:nvSpPr>
          <p:cNvPr id="485" name="Google Shape;485;p28"/>
          <p:cNvSpPr/>
          <p:nvPr/>
        </p:nvSpPr>
        <p:spPr>
          <a:xfrm>
            <a:off x="493776" y="2434590"/>
            <a:ext cx="2400300" cy="233172"/>
          </a:xfrm>
          <a:prstGeom prst="roundRect">
            <a:avLst>
              <a:gd fmla="val 35294" name="adj"/>
            </a:avLst>
          </a:prstGeom>
          <a:solidFill>
            <a:srgbClr val="173B57"/>
          </a:solidFill>
          <a:ln cap="flat" cmpd="sng" w="12700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480064" y="2332776"/>
            <a:ext cx="4526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Deadline: October 31, 2026   •   </a:t>
            </a:r>
            <a:r>
              <a:rPr lang="en" sz="1100">
                <a:solidFill>
                  <a:srgbClr val="DCEAF7"/>
                </a:solidFill>
              </a:rPr>
              <a:t>Presentation</a:t>
            </a:r>
            <a:r>
              <a:rPr lang="en" sz="1100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DCEAF7"/>
                </a:solidFill>
              </a:rPr>
              <a:t>November 02/03, 2026</a:t>
            </a:r>
            <a:r>
              <a:rPr lang="en" sz="1100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   •   Data: </a:t>
            </a:r>
            <a:r>
              <a:rPr lang="en" sz="11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493776" y="4491990"/>
            <a:ext cx="5349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4D8"/>
              </a:buClr>
              <a:buSzPts val="700"/>
              <a:buFont typeface="Arial"/>
              <a:buNone/>
            </a:pPr>
            <a:r>
              <a:rPr lang="en" sz="700">
                <a:solidFill>
                  <a:srgbClr val="AFC4D8"/>
                </a:solidFill>
                <a:latin typeface="Arial"/>
                <a:ea typeface="Arial"/>
                <a:cs typeface="Arial"/>
                <a:sym typeface="Arial"/>
              </a:rPr>
              <a:t>Questions? Now is the best time to ask.</a:t>
            </a:r>
            <a:endParaRPr sz="1100"/>
          </a:p>
        </p:txBody>
      </p:sp>
      <p:sp>
        <p:nvSpPr>
          <p:cNvPr id="488" name="Google Shape;488;p28"/>
          <p:cNvSpPr txBox="1"/>
          <p:nvPr>
            <p:ph idx="4294967295" type="sldNum"/>
          </p:nvPr>
        </p:nvSpPr>
        <p:spPr>
          <a:xfrm>
            <a:off x="8812530" y="12344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